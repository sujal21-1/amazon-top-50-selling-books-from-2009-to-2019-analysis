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47" d="100"/>
          <a:sy n="47" d="100"/>
        </p:scale>
        <p:origin x="53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BestSellingBooksTrendsandInsights/AmazonBestsellerBooksDashboar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A6D2785C-9E4E-48C2-8C02-5057548F00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Best Selling Books Trends From 2009 To 2019</a:t>
            </a:r>
            <a:endParaRPr lang="en-us" dirty="0">
              <a:hlinkClick r:id="rId2"/>
            </a:endParaRP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252D4F39-B41A-461E-B3B3-7AD8B4395C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Sujal Ponnaluri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Price vs Popularity">
            <a:extLst>
              <a:ext uri="{FF2B5EF4-FFF2-40B4-BE49-F238E27FC236}">
                <a16:creationId xmlns:a16="http://schemas.microsoft.com/office/drawing/2014/main" id="{CC1CDE6F-CCFB-4A1F-9CB8-3DAA4E7A4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35" y="1024890"/>
            <a:ext cx="4998953" cy="4175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FBA992-DD38-FF7C-6BC6-75F93455AA09}"/>
              </a:ext>
            </a:extLst>
          </p:cNvPr>
          <p:cNvSpPr txBox="1"/>
          <p:nvPr/>
        </p:nvSpPr>
        <p:spPr>
          <a:xfrm>
            <a:off x="6096000" y="1237160"/>
            <a:ext cx="59055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Book price does not appear to strongly determine popularity. Several lower-priced books received a very high number of reviews, suggesting that affordability may encourage more purchases </a:t>
            </a:r>
            <a:r>
              <a:rPr lang="en-US" sz="2000" dirty="0"/>
              <a:t>and</a:t>
            </a:r>
            <a:r>
              <a:rPr lang="en-US" sz="2400" dirty="0"/>
              <a:t> reader engagement. Additionally, highly reviewed books appear across both Fiction and Non-Fiction genres, indicating strong reader interest in a wide range of book categories rather than a single dominant genre. 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Rating Distributon by genre">
            <a:extLst>
              <a:ext uri="{FF2B5EF4-FFF2-40B4-BE49-F238E27FC236}">
                <a16:creationId xmlns:a16="http://schemas.microsoft.com/office/drawing/2014/main" id="{D7A2B1AD-4616-4D63-94AA-B7B25FEBB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10" y="300990"/>
            <a:ext cx="3398675" cy="62560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1AAEED-84BF-916D-EA15-5FB413028F2B}"/>
              </a:ext>
            </a:extLst>
          </p:cNvPr>
          <p:cNvSpPr txBox="1"/>
          <p:nvPr/>
        </p:nvSpPr>
        <p:spPr>
          <a:xfrm>
            <a:off x="4082143" y="1159329"/>
            <a:ext cx="79683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box plot compares the distribution of user ratings between </a:t>
            </a:r>
            <a:r>
              <a:rPr lang="en-US" sz="2000" dirty="0"/>
              <a:t>Fiction</a:t>
            </a:r>
            <a:r>
              <a:rPr lang="en-US" sz="2400" dirty="0"/>
              <a:t> and Non-Fiction best-selling books. The results show that both genres maintain consistently high ratings, with most books falling between 4.5 and 4.9. Fiction books show slightly more variation in ratings, while Non-Fiction ratings tend to be more tightly clustered. Overall, the visualization suggests that bestselling books across both genres generally receive strong positive feedback from readers.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Reviews by Year and Genre">
            <a:extLst>
              <a:ext uri="{FF2B5EF4-FFF2-40B4-BE49-F238E27FC236}">
                <a16:creationId xmlns:a16="http://schemas.microsoft.com/office/drawing/2014/main" id="{C2527471-753D-43B3-AA4E-D5294F3D4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01" y="1345940"/>
            <a:ext cx="6436724" cy="36739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2A2ED4-0399-2157-9733-56A2C2D15447}"/>
              </a:ext>
            </a:extLst>
          </p:cNvPr>
          <p:cNvSpPr txBox="1"/>
          <p:nvPr/>
        </p:nvSpPr>
        <p:spPr>
          <a:xfrm>
            <a:off x="7387513" y="916732"/>
            <a:ext cx="462098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Review generally increases in the later years, showing that readers are more active in sharing feedback and posting reviews online. Some years also show noticeable spikes in the number of </a:t>
            </a:r>
            <a:r>
              <a:rPr lang="en-US" sz="2000" dirty="0"/>
              <a:t>reviews</a:t>
            </a:r>
            <a:r>
              <a:rPr lang="en-US" sz="2400" dirty="0"/>
              <a:t>, which indicate the release of particularly popular titles during those periods. Both Fiction and Non-Fiction books consistently receive strong reader attention across multiple years, showing steady interest in best-selling books across genres.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Overall rating distribution">
            <a:extLst>
              <a:ext uri="{FF2B5EF4-FFF2-40B4-BE49-F238E27FC236}">
                <a16:creationId xmlns:a16="http://schemas.microsoft.com/office/drawing/2014/main" id="{C80DE018-C0F8-486F-8D69-74F2495AF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96" y="1028522"/>
            <a:ext cx="6764694" cy="51576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752482-DE5D-A87C-0C8A-8B384160C217}"/>
              </a:ext>
            </a:extLst>
          </p:cNvPr>
          <p:cNvSpPr txBox="1"/>
          <p:nvPr/>
        </p:nvSpPr>
        <p:spPr>
          <a:xfrm>
            <a:off x="7123145" y="1375162"/>
            <a:ext cx="458133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ratings are concentrated with a narrow range near the higher end of the scale, with the largest number of books appearing in the bins between roughly  4.6 and 4.8. Both Fiction and Non-Fiction books appear frequently within this range, showing that highly rated titles exist across both genres. Only a small number of books appear in the lower rating bins, while the higher rating bins contain the majority of observations. This pattern shows that ratings for best-selling books tend to cluster closely together, indicating consistent and strong reader evaluations across many titles.  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318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Best Selling Books Trends From 2009 To 2019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Ponnaluri, Sankara Pavana Kalyana Sujal</cp:lastModifiedBy>
  <cp:revision>1</cp:revision>
  <dcterms:created xsi:type="dcterms:W3CDTF">2026-03-13T15:08:41Z</dcterms:created>
  <dcterms:modified xsi:type="dcterms:W3CDTF">2026-03-13T21:58:02Z</dcterms:modified>
</cp:coreProperties>
</file>